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3840480"/>
            <a:ext cx="3108960" cy="3108960"/>
          </a:xfrm>
          <a:prstGeom prst="ellipse">
            <a:avLst/>
          </a:prstGeom>
          <a:noFill/>
          <a:ln w="381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320040"/>
            <a:ext cx="2926080" cy="2926080"/>
          </a:xfrm>
          <a:prstGeom prst="ellipse">
            <a:avLst/>
          </a:prstGeom>
          <a:noFill/>
          <a:ln w="381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828800" y="1463040"/>
            <a:ext cx="8138160" cy="3840480"/>
          </a:xfrm>
          <a:prstGeom prst="line">
            <a:avLst/>
          </a:prstGeom>
          <a:ln w="2794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1417320"/>
            <a:ext cx="8046720" cy="109728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The Adversarial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68580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2EC4B6"/>
                </a:solidFill>
                <a:latin typeface="Calibri"/>
              </a:rPr>
              <a:t>Why the best AI output comes from agents that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669280"/>
            <a:ext cx="868680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Matthew Williams — Senior SWE (MSFT) · 2026-04-01 · Based on Anthropic Labs research by Prithvi Rajasekaran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AI Agents Hit Two Walls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5836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Wall 1 · Context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606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As the context window fills, coherence drops. Some models start wrapping up work early — even when the job is unfinished.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3520440"/>
            <a:ext cx="1965960" cy="548640"/>
          </a:xfrm>
          <a:prstGeom prst="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Attempt 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880360"/>
            <a:ext cx="1828800" cy="548640"/>
          </a:xfrm>
          <a:prstGeom prst="rect">
            <a:avLst/>
          </a:prstGeom>
          <a:solidFill>
            <a:srgbClr val="D18A74"/>
          </a:solidFill>
          <a:ln w="19050">
            <a:solidFill>
              <a:srgbClr val="D18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Attempt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240280"/>
            <a:ext cx="1691640" cy="548640"/>
          </a:xfrm>
          <a:prstGeom prst="rect">
            <a:avLst/>
          </a:prstGeom>
          <a:solidFill>
            <a:srgbClr val="BE9A89"/>
          </a:solidFill>
          <a:ln w="19050">
            <a:solidFill>
              <a:srgbClr val="BE9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Attempt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234440"/>
            <a:ext cx="40690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2461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Wall 2 · Self-evaluation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4028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When agents judge their own output, they reliably talk themselves into approval — even when the quality is obviously mediocre.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926080"/>
            <a:ext cx="3108960" cy="7315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“This looks great! Ship it.”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840480"/>
            <a:ext cx="3063240" cy="896112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13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E07A5F"/>
                </a:solidFill>
                <a:latin typeface="Consolas"/>
              </a:rPr>
              <a:t>ERROR Traceback (most recent call last):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AssertionError: expected 6, got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77840"/>
            <a:ext cx="11201400" cy="86868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13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1">
                <a:solidFill>
                  <a:srgbClr val="2EC4B6"/>
                </a:solidFill>
                <a:latin typeface="Calibri"/>
              </a:rPr>
              <a:t>“I watched it identify legitimate issues, then talk itself into deciding they weren’t a big deal and approve the work anyway.”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Anthropic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What if the Builder and the Critic Were Different Agents?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103120" cy="1280160"/>
          </a:xfrm>
          <a:prstGeom prst="roundRect">
            <a:avLst/>
          </a:prstGeom>
          <a:solidFill>
            <a:srgbClr val="4C627A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Planner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Expands prompt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into spec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737360"/>
            <a:ext cx="2286000" cy="1280160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Generator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Builds features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in sprints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2377440" cy="1280160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Evaluator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Tests and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grades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377440"/>
            <a:ext cx="685800" cy="0"/>
          </a:xfrm>
          <a:prstGeom prst="line">
            <a:avLst/>
          </a:prstGeom>
          <a:ln w="3175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3246120" y="2221992"/>
            <a:ext cx="411480" cy="310896"/>
          </a:xfrm>
          <a:prstGeom prst="chevron">
            <a:avLst/>
          </a:prstGeom>
          <a:solidFill>
            <a:srgbClr val="5B6678"/>
          </a:solidFill>
          <a:ln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5989320" y="1965960"/>
            <a:ext cx="502920" cy="301752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 rot="10800000">
            <a:off x="6766560" y="2487168"/>
            <a:ext cx="502920" cy="301752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24028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2CC8F"/>
                </a:solidFill>
                <a:latin typeface="Calibri"/>
              </a:rPr>
              <a:t>feedback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49039"/>
            <a:ext cx="1065276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1B2A4A"/>
                </a:solidFill>
                <a:latin typeface="Calibri"/>
              </a:rPr>
              <a:t>• Inspired by GANs: generator builds, evaluator tears it apart, feedback drives improvement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1B2A4A"/>
                </a:solidFill>
                <a:latin typeface="Calibri"/>
              </a:rPr>
              <a:t>• Separation doesn’t eliminate leniency — but it makes calibration tractable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B2A4A"/>
                </a:solidFill>
                <a:latin typeface="Calibri"/>
              </a:rPr>
              <a:t>• Add a Planner so the system builds the right thing before it optimizes the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The Article That Started This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2377440" cy="384048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417320"/>
            <a:ext cx="1828800" cy="384048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417320"/>
            <a:ext cx="1371600" cy="384048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074920" cy="384048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377440" cy="548640"/>
          </a:xfrm>
          <a:prstGeom prst="rect">
            <a:avLst/>
          </a:prstGeom>
          <a:solidFill>
            <a:srgbClr val="FAE9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Solo agent (Opus 4.5)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1828800" cy="548640"/>
          </a:xfrm>
          <a:prstGeom prst="rect">
            <a:avLst/>
          </a:prstGeom>
          <a:solidFill>
            <a:srgbClr val="FAE9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20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828800"/>
            <a:ext cx="1371600" cy="548640"/>
          </a:xfrm>
          <a:prstGeom prst="rect">
            <a:avLst/>
          </a:prstGeom>
          <a:solidFill>
            <a:srgbClr val="FAE9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$9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074920" cy="548640"/>
          </a:xfrm>
          <a:prstGeom prst="rect">
            <a:avLst/>
          </a:prstGeom>
          <a:solidFill>
            <a:srgbClr val="FAE9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Core feature broken, poor layout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911095"/>
            <a:ext cx="91440" cy="384048"/>
          </a:xfrm>
          <a:prstGeom prst="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50592"/>
            <a:ext cx="237744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3-agent harness (Opus 4.5)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450592"/>
            <a:ext cx="182880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6 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2450592"/>
            <a:ext cx="137160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$200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50592"/>
            <a:ext cx="507492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16-feature app, working core, polished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32888"/>
            <a:ext cx="91440" cy="384048"/>
          </a:xfrm>
          <a:prstGeom prst="rect">
            <a:avLst/>
          </a:prstGeom>
          <a:solidFill>
            <a:srgbClr val="229E92"/>
          </a:solidFill>
          <a:ln w="19050">
            <a:solidFill>
              <a:srgbClr val="229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72384"/>
            <a:ext cx="237744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Simplified harness (Opus 4.6)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072384"/>
            <a:ext cx="182880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3 hr 50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072384"/>
            <a:ext cx="137160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$125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72384"/>
            <a:ext cx="5074920" cy="548640"/>
          </a:xfrm>
          <a:prstGeom prst="rect">
            <a:avLst/>
          </a:prstGeom>
          <a:solidFill>
            <a:srgbClr val="E4F7F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Full DAW, 3 QA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154680"/>
            <a:ext cx="91440" cy="384048"/>
          </a:xfrm>
          <a:prstGeom prst="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160520"/>
            <a:ext cx="10698480" cy="86868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Not incrementally better — categorically different.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Source: Harness Design for Long-Running Apps — Anthropic Labs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Architecture — Three Agents, One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438912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38988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2EC4B6"/>
                </a:solidFill>
                <a:latin typeface="Calibri"/>
              </a:rP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920240"/>
            <a:ext cx="2011680" cy="1508760"/>
          </a:xfrm>
          <a:prstGeom prst="roundRect">
            <a:avLst/>
          </a:prstGeom>
          <a:solidFill>
            <a:srgbClr val="4C627A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Planner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1–4 sentence prompt → ambitious spec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WHAT, not HOW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2377440" cy="1508760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Generator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Implements in sprints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Negotiates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920240"/>
            <a:ext cx="2468880" cy="1508760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Evaluator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Tests live app</a:t>
            </a:r>
            <a:br/>
            <a:r>
              <a:rPr sz="1800" b="1" i="0">
                <a:solidFill>
                  <a:srgbClr val="FFFFFF"/>
                </a:solidFill>
                <a:latin typeface="Calibri"/>
              </a:rPr>
              <a:t>Grades against criteria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0128" y="2670048"/>
            <a:ext cx="850392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3785615" y="2523744"/>
            <a:ext cx="347472" cy="274320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601968" y="2331720"/>
            <a:ext cx="804672" cy="0"/>
          </a:xfrm>
          <a:prstGeom prst="line">
            <a:avLst/>
          </a:prstGeom>
          <a:ln w="3175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01968" y="2980944"/>
            <a:ext cx="804672" cy="0"/>
          </a:xfrm>
          <a:prstGeom prst="line">
            <a:avLst/>
          </a:prstGeom>
          <a:ln w="3175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6967728" y="2185416"/>
            <a:ext cx="329184" cy="237744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 rot="10800000">
            <a:off x="6720840" y="2834640"/>
            <a:ext cx="329184" cy="237744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2542032"/>
            <a:ext cx="1051560" cy="219456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adversarial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069080"/>
            <a:ext cx="9921240" cy="731520"/>
          </a:xfrm>
          <a:prstGeom prst="roundRect">
            <a:avLst/>
          </a:prstGeom>
          <a:solidFill>
            <a:srgbClr val="5B6678"/>
          </a:solidFill>
          <a:ln w="19050"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Telemetry layer · timing · cost · scores · bugs ·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206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2CC8F"/>
                </a:solidFill>
                <a:latin typeface="Calibri"/>
              </a:rPr>
              <a:t>Planner defines the target. Evaluator enforces quality. Telemetry makes the claims measurable.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How We Prevent Gaming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269480" cy="448056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2EC4B6"/>
                </a:solidFill>
                <a:latin typeface="Calibri"/>
              </a:rPr>
              <a:t>Generator worktree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benchmarks/</a:t>
            </a:r>
            <a:br/>
            <a:r>
              <a:rPr sz="1700" b="0" i="0">
                <a:solidFill>
                  <a:srgbClr val="FFFFFF"/>
                </a:solidFill>
                <a:latin typeface="Consolas"/>
              </a:rPr>
              <a:t>├── TASK.md</a:t>
            </a:r>
            <a:br/>
            <a:r>
              <a:rPr sz="1700" b="0" i="0">
                <a:solidFill>
                  <a:srgbClr val="FFFFFF"/>
                </a:solidFill>
                <a:latin typeface="Consolas"/>
              </a:rPr>
              <a:t>├── tests/</a:t>
            </a:r>
            <a:br/>
            <a:r>
              <a:rPr sz="1700" b="0" i="0">
                <a:solidFill>
                  <a:srgbClr val="FFFFFF"/>
                </a:solidFill>
                <a:latin typeface="Consolas"/>
              </a:rPr>
              <a:t>├── src/</a:t>
            </a:r>
            <a:br/>
            <a:r>
              <a:rPr sz="1700" b="0" i="0">
                <a:solidFill>
                  <a:srgbClr val="FFFFFF"/>
                </a:solidFill>
                <a:latin typeface="Consolas"/>
              </a:rPr>
              <a:t>└── _eval/   hidden from generator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3611880"/>
            <a:ext cx="2331720" cy="0"/>
          </a:xfrm>
          <a:prstGeom prst="line">
            <a:avLst/>
          </a:prstGeom>
          <a:ln w="3810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49240" y="3246120"/>
            <a:ext cx="1188720" cy="219456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Goodhart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00200"/>
            <a:ext cx="2743200" cy="256032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229E92"/>
                </a:solidFill>
                <a:latin typeface="Calibri"/>
              </a:rPr>
              <a:t>Evaluator worktree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onsolas"/>
              </a:rPr>
              <a:t>benchmarks/</a:t>
            </a:r>
            <a:br/>
            <a:r>
              <a:rPr sz="1600" b="0" i="0">
                <a:solidFill>
                  <a:srgbClr val="1B2A4A"/>
                </a:solidFill>
                <a:latin typeface="Consolas"/>
              </a:rPr>
              <a:t>├── TASK.md</a:t>
            </a:r>
            <a:br/>
            <a:r>
              <a:rPr sz="1600" b="0" i="0">
                <a:solidFill>
                  <a:srgbClr val="1B2A4A"/>
                </a:solidFill>
                <a:latin typeface="Consolas"/>
              </a:rPr>
              <a:t>├── tests/</a:t>
            </a:r>
            <a:br/>
            <a:r>
              <a:rPr sz="1600" b="0" i="0">
                <a:solidFill>
                  <a:srgbClr val="1B2A4A"/>
                </a:solidFill>
                <a:latin typeface="Consolas"/>
              </a:rPr>
              <a:t>├── src/</a:t>
            </a:r>
            <a:br/>
            <a:r>
              <a:rPr sz="1600" b="0" i="0">
                <a:solidFill>
                  <a:srgbClr val="1B2A4A"/>
                </a:solidFill>
                <a:latin typeface="Consolas"/>
              </a:rPr>
              <a:t>└── _eval/   visible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9560" y="1325880"/>
            <a:ext cx="0" cy="4160520"/>
          </a:xfrm>
          <a:prstGeom prst="line">
            <a:avLst/>
          </a:prstGeom>
          <a:ln w="3810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71231" y="1051560"/>
            <a:ext cx="676656" cy="219456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34840"/>
            <a:ext cx="2743200" cy="100584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Result</a:t>
            </a:r>
            <a:br/>
            <a:r>
              <a:rPr sz="1800" b="1" i="0">
                <a:solidFill>
                  <a:srgbClr val="1B2A4A"/>
                </a:solidFill>
                <a:latin typeface="Calibri"/>
              </a:rPr>
              <a:t>11 runs · 0 boundary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788152"/>
            <a:ext cx="960120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If the generator can see the hidden tests, it optimizes for passing them — not for writing genuinely good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Building a Critic That Actually Criticizes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972800" cy="1143000"/>
          </a:xfrm>
          <a:prstGeom prst="roundRect">
            <a:avLst/>
          </a:prstGeom>
          <a:solidFill>
            <a:srgbClr val="E9E2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0" i="1">
                <a:solidFill>
                  <a:srgbClr val="1B2A4A"/>
                </a:solidFill>
                <a:latin typeface="Calibri"/>
              </a:rPr>
              <a:t>“Used an LLM to improve my argument over 4 hours… ask it to argue the opposite. LLM demolishes the entire argument. lol.” — Andrej Karpathy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5349240" cy="219456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13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E07A5F"/>
                </a:solidFill>
                <a:latin typeface="Consolas"/>
              </a:rPr>
              <a:t>{  "functionality": 1,  "verdict": "FAIL" }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2CC8F"/>
                </a:solidFill>
                <a:latin typeface="Consolas"/>
              </a:rPr>
              <a:t>↓ feedback loop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2EC4B6"/>
                </a:solidFill>
                <a:latin typeface="Consolas"/>
              </a:rPr>
              <a:t>{  "functionality": 10,  "verdict": "PASS"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560320"/>
            <a:ext cx="46634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Anti-people-pleasing rules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Any test fails → functionality ≤ 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No new tests → test coverage ≤ 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Stub implementation → product depth ≤ 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All scores ≥ 7? Flag as suspicious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5212080"/>
            <a:ext cx="4663440" cy="59436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Calibration still imperfect: TS benchmark scored func=8 with 50% tests failing.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Agreeing on “Done” Before Writing 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840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9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229E92"/>
                </a:solidFill>
                <a:latin typeface="Calibri"/>
              </a:rPr>
              <a:t>Generator proposal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Implement the next feature slice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Define concrete acceptance checks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Commit to what will be demo-ready this sprint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3840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E07A5F"/>
                </a:solidFill>
                <a:latin typeface="Calibri"/>
              </a:rPr>
              <a:t>Evaluator review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Tighten or remove vague criteria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Add missing failure cases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• Cap negotiation at two rounds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2788920"/>
            <a:ext cx="914400" cy="0"/>
          </a:xfrm>
          <a:prstGeom prst="line">
            <a:avLst/>
          </a:prstGeom>
          <a:ln w="2794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92240" y="2788920"/>
            <a:ext cx="1005839" cy="0"/>
          </a:xfrm>
          <a:prstGeom prst="line">
            <a:avLst/>
          </a:prstGeom>
          <a:ln w="2794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2240280"/>
            <a:ext cx="1783080" cy="109728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Agreed</a:t>
            </a:r>
            <a:br/>
            <a:r>
              <a:rPr sz="2000" b="1" i="0">
                <a:solidFill>
                  <a:srgbClr val="1B2A4A"/>
                </a:solidFill>
                <a:latin typeface="Calibri"/>
              </a:rPr>
              <a:t>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5257800"/>
            <a:ext cx="790956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Why it matters: the Planner stays high-level, but each sprint still lands on a testable definition of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508760"/>
            <a:ext cx="1783080" cy="219456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Article example: 27 acceptance criteria in one sprint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Files on Disk, Not Chat History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8920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Copilot skill artifacts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229E92"/>
                </a:solidFill>
                <a:latin typeface="Consolas"/>
              </a:rPr>
              <a:t>harnessa-spec.md</a:t>
            </a:r>
            <a:br/>
            <a:r>
              <a:rPr sz="1700" b="0" i="0">
                <a:solidFill>
                  <a:srgbClr val="229E92"/>
                </a:solidFill>
                <a:latin typeface="Consolas"/>
              </a:rPr>
              <a:t>harnessa-gen-report.md</a:t>
            </a:r>
            <a:br/>
            <a:r>
              <a:rPr sz="1700" b="0" i="0">
                <a:solidFill>
                  <a:srgbClr val="229E92"/>
                </a:solidFill>
                <a:latin typeface="Consolas"/>
              </a:rPr>
              <a:t>harnessa-eval.md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Benchmark harness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E07A5F"/>
                </a:solidFill>
                <a:latin typeface="Consolas"/>
              </a:rPr>
              <a:t>planner/spec.md</a:t>
            </a:r>
            <a:br/>
            <a:r>
              <a:rPr sz="1700" b="0" i="0">
                <a:solidFill>
                  <a:srgbClr val="E07A5F"/>
                </a:solidFill>
                <a:latin typeface="Consolas"/>
              </a:rPr>
              <a:t>contracts/</a:t>
            </a:r>
            <a:br/>
            <a:r>
              <a:rPr sz="1700" b="0" i="0">
                <a:solidFill>
                  <a:srgbClr val="E07A5F"/>
                </a:solidFill>
                <a:latin typeface="Consolas"/>
              </a:rPr>
              <a:t>evaluations/</a:t>
            </a:r>
            <a:br/>
            <a:r>
              <a:rPr sz="1700" b="0" i="0">
                <a:solidFill>
                  <a:srgbClr val="E07A5F"/>
                </a:solidFill>
                <a:latin typeface="Consolas"/>
              </a:rPr>
              <a:t>telemetry/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08760"/>
            <a:ext cx="52578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Why files win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Full audit trail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Human-readable handoffs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Resumability after crashes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Clean phase boundaries between agents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743200"/>
            <a:ext cx="2011680" cy="0"/>
          </a:xfrm>
          <a:prstGeom prst="line">
            <a:avLst/>
          </a:prstGeom>
          <a:ln w="3302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3840480" y="2587752"/>
            <a:ext cx="274320" cy="256032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26280" y="2743200"/>
            <a:ext cx="777240" cy="0"/>
          </a:xfrm>
          <a:prstGeom prst="line">
            <a:avLst/>
          </a:prstGeom>
          <a:ln w="3302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0" y="5257800"/>
            <a:ext cx="5257800" cy="640080"/>
          </a:xfrm>
          <a:prstGeom prst="roundRect">
            <a:avLst/>
          </a:prstGeom>
          <a:solidFill>
            <a:srgbClr val="5B6678"/>
          </a:solidFill>
          <a:ln w="19050"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Every write is atomic — crash-safe by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5 Benchmarks, 2 Modes, Real 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6903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417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4173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Challenge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691639"/>
            <a:ext cx="6446520" cy="0"/>
          </a:xfrm>
          <a:prstGeom prst="line">
            <a:avLst/>
          </a:prstGeom>
          <a:ln w="12700">
            <a:solidFill>
              <a:srgbClr val="EA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175564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small-bugfix-python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755648"/>
            <a:ext cx="914400" cy="219456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556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Fix ± sign bug in arg parser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41448"/>
            <a:ext cx="6446520" cy="0"/>
          </a:xfrm>
          <a:prstGeom prst="line">
            <a:avLst/>
          </a:prstGeom>
          <a:ln w="12700">
            <a:solidFill>
              <a:srgbClr val="EA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250545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small-feature-typescript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505456"/>
            <a:ext cx="132588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0545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Implement retry with backoff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191256"/>
            <a:ext cx="6446520" cy="0"/>
          </a:xfrm>
          <a:prstGeom prst="line">
            <a:avLst/>
          </a:prstGeom>
          <a:ln w="12700">
            <a:solidFill>
              <a:srgbClr val="EA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255263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small-bugfix-go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255263"/>
            <a:ext cx="914400" cy="219456"/>
          </a:xfrm>
          <a:prstGeom prst="roundRect">
            <a:avLst/>
          </a:prstGeom>
          <a:solidFill>
            <a:srgbClr val="4C627A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255263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Fix connection pool race condition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941063"/>
            <a:ext cx="6446520" cy="0"/>
          </a:xfrm>
          <a:prstGeom prst="line">
            <a:avLst/>
          </a:prstGeom>
          <a:ln w="12700">
            <a:solidFill>
              <a:srgbClr val="EA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005071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medium-feature-python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005071"/>
            <a:ext cx="914400" cy="219456"/>
          </a:xfrm>
          <a:prstGeom prst="roundRect">
            <a:avLst/>
          </a:prstGeom>
          <a:solidFill>
            <a:srgbClr val="229E92"/>
          </a:solidFill>
          <a:ln w="19050">
            <a:solidFill>
              <a:srgbClr val="229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005071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Add tags to FastAPI TODO app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4690872"/>
            <a:ext cx="6446520" cy="0"/>
          </a:xfrm>
          <a:prstGeom prst="line">
            <a:avLst/>
          </a:prstGeom>
          <a:ln w="12700">
            <a:solidFill>
              <a:srgbClr val="EA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4754879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medium-feature-fullstack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4754879"/>
            <a:ext cx="1325880" cy="219456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React + Express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754879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Real-time notifications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234440"/>
            <a:ext cx="36118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Repo size (LOC)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8105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bugfix-python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039112"/>
            <a:ext cx="2423160" cy="146304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2039112"/>
            <a:ext cx="403860" cy="146304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3032" y="1975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68879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feature-typescript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697479"/>
            <a:ext cx="2423160" cy="146304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20" y="2697479"/>
            <a:ext cx="646176" cy="146304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43032" y="2633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127247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bugfix-go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355847"/>
            <a:ext cx="2423160" cy="146304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0" y="3355847"/>
            <a:ext cx="484632" cy="146304"/>
          </a:xfrm>
          <a:prstGeom prst="roundRect">
            <a:avLst/>
          </a:prstGeom>
          <a:solidFill>
            <a:srgbClr val="4C627A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3032" y="32918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785615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feature-python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014215"/>
            <a:ext cx="2423160" cy="146304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46720" y="4014215"/>
            <a:ext cx="1373124" cy="146304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032" y="3950207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1700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443983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feature-fullstack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672583"/>
            <a:ext cx="2423160" cy="146304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46720" y="4672583"/>
            <a:ext cx="2423160" cy="146304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43032" y="460857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3000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5669280"/>
            <a:ext cx="10607040" cy="594360"/>
          </a:xfrm>
          <a:prstGeom prst="roundRect">
            <a:avLst/>
          </a:prstGeom>
          <a:solidFill>
            <a:srgbClr val="5B6678"/>
          </a:solidFill>
          <a:ln w="19050"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Same model · same prompt · same tools · hidden _eval tests + fixtures · only the architecture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Solo FAIL → Trio 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927080" cy="384048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N=11 total runs — small sample, but the fullstack benchmark produced a categorical result, not a marginal score bump.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4983480" cy="3520440"/>
          </a:xfrm>
          <a:prstGeom prst="roundRect">
            <a:avLst/>
          </a:prstGeom>
          <a:solidFill>
            <a:srgbClr val="FAE9E4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E07A5F"/>
                </a:solidFill>
                <a:latin typeface="Calibri"/>
              </a:rPr>
              <a:t>Solo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E07A5F"/>
                </a:solidFill>
                <a:latin typeface="Calibri"/>
              </a:rPr>
              <a:t>FAIL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Functionality 4 / 10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Average score 6.25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Duration 383s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Broken WebSocket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4983480" cy="352044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229E92"/>
                </a:solidFill>
                <a:latin typeface="Calibri"/>
              </a:rPr>
              <a:t>Trio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229E92"/>
                </a:solidFill>
                <a:latin typeface="Calibri"/>
              </a:rPr>
              <a:t>PASS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Functionality 8 / 10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Average score 8.0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Duration 619s (1.6×)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Working WebSocket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8346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2CC8F"/>
                </a:solidFill>
                <a:latin typeface="Calibri"/>
              </a:rPr>
              <a:t>+4 functionality</a:t>
            </a:r>
          </a:p>
        </p:txBody>
      </p:sp>
      <p:sp>
        <p:nvSpPr>
          <p:cNvPr id="9" name="Chevron 8"/>
          <p:cNvSpPr/>
          <p:nvPr/>
        </p:nvSpPr>
        <p:spPr>
          <a:xfrm>
            <a:off x="5440680" y="3154680"/>
            <a:ext cx="1051560" cy="475488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325880"/>
            <a:ext cx="1645920" cy="219456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84s planner 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486400"/>
            <a:ext cx="10332720" cy="64008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This is the categorical difference the article predicted: same model, same task, same tools — one architecture ships broken code, the other ships a working core feature.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Trio Won the Tests That Mattered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Python bugfix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99031"/>
            <a:ext cx="1234440" cy="219456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99031"/>
            <a:ext cx="123444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9.5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99031"/>
            <a:ext cx="91440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62456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Evaluator caught issue, gen fixed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10789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6654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TS 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084831"/>
            <a:ext cx="1234440" cy="219456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084831"/>
            <a:ext cx="123444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84831"/>
            <a:ext cx="914400" cy="219456"/>
          </a:xfrm>
          <a:prstGeom prst="roundRect">
            <a:avLst/>
          </a:prstGeom>
          <a:solidFill>
            <a:srgbClr val="8B8B8B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48255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Simple task — trio overhead wasted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10789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7523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Go race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2770632"/>
            <a:ext cx="1234440" cy="219456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FAIL 6.75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770632"/>
            <a:ext cx="1234440" cy="219456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FAIL 7.25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70632"/>
            <a:ext cx="914400" cy="219456"/>
          </a:xfrm>
          <a:prstGeom prst="roundRect">
            <a:avLst/>
          </a:prstGeom>
          <a:solidFill>
            <a:srgbClr val="8B8B8B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734056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Too hard for both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37560"/>
            <a:ext cx="10789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4381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Python tags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3456432"/>
            <a:ext cx="1234440" cy="219456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456432"/>
            <a:ext cx="123444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456432"/>
            <a:ext cx="914400" cy="219456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Solo*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419856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3.25 → 8.0 after feedback; solo likely lenient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10789920" cy="91440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2153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Fullstack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80" y="4233672"/>
            <a:ext cx="1234440" cy="219456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FAIL 6.25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4233672"/>
            <a:ext cx="123444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PASS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233672"/>
            <a:ext cx="914400" cy="219456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197096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Categorical difference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349240"/>
            <a:ext cx="22860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7" y="5422392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2CC8F"/>
                </a:solidFill>
                <a:latin typeface="Calibri"/>
              </a:rPr>
              <a:t>Mean functionality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5641848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4.8 → 7.6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5349240"/>
            <a:ext cx="20116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8728" y="5422392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</a:rPr>
              <a:t>Verdicts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564184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3/5 → 4/5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5349240"/>
            <a:ext cx="1828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24728" y="542239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8B8B8B"/>
                </a:solidFill>
                <a:latin typeface="Calibri"/>
              </a:rPr>
              <a:t>Wall-clock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88152" y="5641848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~1.8×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5303520"/>
            <a:ext cx="3657600" cy="804672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Python tags caveat: solo’s higher numeric score likely reflects self-evaluation leniency, not stronger engineering.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Feedback Loop Works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120640"/>
            <a:ext cx="65836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1554480"/>
            <a:ext cx="0" cy="35661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8680" y="5120640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5047488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407407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334255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694175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621023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980944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907791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2267711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194559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1554479"/>
            <a:ext cx="6629399" cy="0"/>
          </a:xfrm>
          <a:prstGeom prst="line">
            <a:avLst/>
          </a:prstGeom>
          <a:ln w="762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1481327"/>
            <a:ext cx="23774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2624327"/>
            <a:ext cx="6583679" cy="0"/>
          </a:xfrm>
          <a:prstGeom prst="line">
            <a:avLst/>
          </a:prstGeom>
          <a:ln w="22860">
            <a:solidFill>
              <a:srgbClr val="F2CC8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12280" y="250545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2CC8F"/>
                </a:solidFill>
                <a:latin typeface="Calibri"/>
              </a:rPr>
              <a:t>PASS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463040" y="1732788"/>
            <a:ext cx="2743200" cy="1604771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1732788"/>
            <a:ext cx="2926079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380744" y="325526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3026663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1</a:t>
            </a:r>
          </a:p>
        </p:txBody>
      </p:sp>
      <p:sp>
        <p:nvSpPr>
          <p:cNvPr id="26" name="Oval 25"/>
          <p:cNvSpPr/>
          <p:nvPr/>
        </p:nvSpPr>
        <p:spPr>
          <a:xfrm>
            <a:off x="4123944" y="165049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1421892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2</a:t>
            </a:r>
          </a:p>
        </p:txBody>
      </p:sp>
      <p:sp>
        <p:nvSpPr>
          <p:cNvPr id="29" name="Oval 28"/>
          <p:cNvSpPr/>
          <p:nvPr/>
        </p:nvSpPr>
        <p:spPr>
          <a:xfrm>
            <a:off x="7050023" y="165049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7" y="1421892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1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79" y="1298448"/>
            <a:ext cx="1097280" cy="201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Python bugfix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463040" y="2802636"/>
            <a:ext cx="2743200" cy="1337310"/>
          </a:xfrm>
          <a:prstGeom prst="line">
            <a:avLst/>
          </a:prstGeom>
          <a:ln w="3175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206240" y="2535174"/>
            <a:ext cx="2926079" cy="267462"/>
          </a:xfrm>
          <a:prstGeom prst="line">
            <a:avLst/>
          </a:prstGeom>
          <a:ln w="3175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380744" y="405765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8448" y="382905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E07A5F"/>
                </a:solidFill>
                <a:latin typeface="Calibri"/>
              </a:rPr>
              <a:t>2.75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1</a:t>
            </a:r>
          </a:p>
        </p:txBody>
      </p:sp>
      <p:sp>
        <p:nvSpPr>
          <p:cNvPr id="38" name="Oval 37"/>
          <p:cNvSpPr/>
          <p:nvPr/>
        </p:nvSpPr>
        <p:spPr>
          <a:xfrm>
            <a:off x="4123944" y="2720340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1648" y="249174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E07A5F"/>
                </a:solidFill>
                <a:latin typeface="Calibri"/>
              </a:rPr>
              <a:t>6.5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50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2</a:t>
            </a:r>
          </a:p>
        </p:txBody>
      </p:sp>
      <p:sp>
        <p:nvSpPr>
          <p:cNvPr id="41" name="Oval 40"/>
          <p:cNvSpPr/>
          <p:nvPr/>
        </p:nvSpPr>
        <p:spPr>
          <a:xfrm>
            <a:off x="7050023" y="2452878"/>
            <a:ext cx="164592" cy="16459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7" y="2224278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E07A5F"/>
                </a:solidFill>
                <a:latin typeface="Calibri"/>
              </a:rPr>
              <a:t>7.25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1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79" y="1298448"/>
            <a:ext cx="1097280" cy="201168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Go race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463040" y="2267711"/>
            <a:ext cx="2743200" cy="1693926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06240" y="2267711"/>
            <a:ext cx="2926079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380744" y="3879341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98448" y="3650741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2EC4B6"/>
                </a:solidFill>
                <a:latin typeface="Calibri"/>
              </a:rPr>
              <a:t>3.25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18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1</a:t>
            </a:r>
          </a:p>
        </p:txBody>
      </p:sp>
      <p:sp>
        <p:nvSpPr>
          <p:cNvPr id="50" name="Oval 49"/>
          <p:cNvSpPr/>
          <p:nvPr/>
        </p:nvSpPr>
        <p:spPr>
          <a:xfrm>
            <a:off x="4123944" y="2185415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41648" y="1956815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2EC4B6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5072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2</a:t>
            </a:r>
          </a:p>
        </p:txBody>
      </p:sp>
      <p:sp>
        <p:nvSpPr>
          <p:cNvPr id="53" name="Oval 52"/>
          <p:cNvSpPr/>
          <p:nvPr/>
        </p:nvSpPr>
        <p:spPr>
          <a:xfrm>
            <a:off x="7050023" y="2185415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67727" y="1956815"/>
            <a:ext cx="329184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 i="0">
                <a:solidFill>
                  <a:srgbClr val="2EC4B6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31151" y="5212079"/>
            <a:ext cx="402336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Iter 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79" y="1298448"/>
            <a:ext cx="1097280" cy="201168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Python tags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1600200"/>
            <a:ext cx="3383280" cy="342900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the loop reveals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Iteration 1 is intentionally harsh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Scores jump after specific feedback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Go race plateaus: 3 iterations still not enough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CC8F"/>
                </a:solidFill>
                <a:latin typeface="Calibri"/>
              </a:rPr>
              <a:t>• The article’s core claim holds: improve, then plateau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5 Confirmed, 2 Partial, 2 Inconclusive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38912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229E92"/>
                </a:solidFill>
                <a:latin typeface="Calibri"/>
              </a:rPr>
              <a:t>Confirmed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Separating generator and evaluator is a strong lever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Scores improve over iterations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Evaluator worth cost only beyond solo capability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Solo agents have self-evaluation failure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Claude is a poor QA agent out of the 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371600"/>
            <a:ext cx="3383280" cy="438912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1B2A4A"/>
                </a:solidFill>
                <a:latin typeface="Calibri"/>
              </a:rPr>
              <a:t>Partial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Harness output is categorically different — but only on complex tasks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Planner adds more structure than scope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71600"/>
            <a:ext cx="3429000" cy="4389120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1B2A4A"/>
                </a:solidFill>
                <a:latin typeface="Calibri"/>
              </a:rPr>
              <a:t>Inconclusive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Criteria wording steers output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Harness assumptions go stale with new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15000"/>
            <a:ext cx="10058400" cy="41148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Bottom line: the article mostly holds up, but the strongest signal appears exactly where the task is hard enough to break a solo agent.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We’re Not Alone — This Is an Industry Pattern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154680"/>
            <a:ext cx="10149840" cy="0"/>
          </a:xfrm>
          <a:prstGeom prst="line">
            <a:avLst/>
          </a:prstGeom>
          <a:ln w="27940">
            <a:solidFill>
              <a:srgbClr val="5B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60120" y="1920240"/>
            <a:ext cx="1783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</a:rPr>
              <a:t>Jun 2025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Anthropic research system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Lead agent + subagents</a:t>
            </a:r>
            <a:br/>
            <a:r>
              <a:rPr sz="1100" b="0" i="0">
                <a:solidFill>
                  <a:srgbClr val="1B2A4A"/>
                </a:solidFill>
                <a:latin typeface="Calibri"/>
              </a:rPr>
              <a:t>90.2% better than single-agent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56232" y="2880360"/>
            <a:ext cx="0" cy="274320"/>
          </a:xfrm>
          <a:prstGeom prst="line">
            <a:avLst/>
          </a:prstGeom>
          <a:ln w="190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63240" y="3657600"/>
            <a:ext cx="1783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E07A5F"/>
                </a:solidFill>
                <a:latin typeface="Calibri"/>
              </a:rPr>
              <a:t>Feb 2026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Anthropic C compiler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16 parallel agents</a:t>
            </a:r>
            <a:br/>
            <a:r>
              <a:rPr sz="1100" b="0" i="0">
                <a:solidFill>
                  <a:srgbClr val="1B2A4A"/>
                </a:solidFill>
                <a:latin typeface="Calibri"/>
              </a:rPr>
              <a:t>“Harness matters more than agents”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59352" y="3154680"/>
            <a:ext cx="0" cy="502920"/>
          </a:xfrm>
          <a:prstGeom prst="line">
            <a:avLst/>
          </a:prstGeom>
          <a:ln w="1905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1920240"/>
            <a:ext cx="1783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Mar 2026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Harness Design article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Generator ↔ evaluator loop</a:t>
            </a:r>
            <a:br/>
            <a:r>
              <a:rPr sz="1100" b="0" i="0">
                <a:solidFill>
                  <a:srgbClr val="1B2A4A"/>
                </a:solidFill>
                <a:latin typeface="Calibri"/>
              </a:rPr>
              <a:t>planner expands scope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53912" y="2880360"/>
            <a:ext cx="0" cy="274320"/>
          </a:xfrm>
          <a:prstGeom prst="line">
            <a:avLst/>
          </a:prstGeom>
          <a:ln w="1905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3657600"/>
            <a:ext cx="1783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2026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Claude Code coordinator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“Do not rubber-stamp weak work”</a:t>
            </a:r>
            <a:br/>
            <a:r>
              <a:rPr sz="1100" b="0" i="0">
                <a:solidFill>
                  <a:srgbClr val="1B2A4A"/>
                </a:solidFill>
                <a:latin typeface="Calibri"/>
              </a:rPr>
              <a:t>anti-sycophancy ships in product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94192" y="3154680"/>
            <a:ext cx="0" cy="50292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920240"/>
            <a:ext cx="1783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9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229E92"/>
                </a:solidFill>
                <a:latin typeface="Calibri"/>
              </a:rPr>
              <a:t>2026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OpenAI Symphony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Issue tracker → isolated workspaces</a:t>
            </a:r>
            <a:br/>
            <a:r>
              <a:rPr sz="1100" b="0" i="0">
                <a:solidFill>
                  <a:srgbClr val="1B2A4A"/>
                </a:solidFill>
                <a:latin typeface="Calibri"/>
              </a:rPr>
              <a:t>works best with harness engineering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43032" y="2880360"/>
            <a:ext cx="0" cy="274320"/>
          </a:xfrm>
          <a:prstGeom prst="line">
            <a:avLst/>
          </a:prstGeom>
          <a:ln w="190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4983480"/>
            <a:ext cx="10652760" cy="7315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Convergence thesis: isolation, structured handoffs, specialized roles, and evaluation as architecture are showing up independently across the major labs.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The Community Is Already Here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286000"/>
            <a:ext cx="2834640" cy="109728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Adversarial pattern</a:t>
            </a:r>
            <a:br/>
            <a:r>
              <a:rPr sz="2100" b="1" i="0">
                <a:solidFill>
                  <a:srgbClr val="FFFFFF"/>
                </a:solidFill>
                <a:latin typeface="Calibri"/>
              </a:rPr>
              <a:t>Disagreement is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GStack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 /review → /codex</a:t>
            </a:r>
            <a:br/>
            <a:r>
              <a:rPr sz="1200" b="0" i="0">
                <a:solidFill>
                  <a:srgbClr val="1B2A4A"/>
                </a:solidFill>
                <a:latin typeface="Calibri"/>
              </a:rPr>
              <a:t>independent second opinion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1965960"/>
            <a:ext cx="3977640" cy="868680"/>
          </a:xfrm>
          <a:prstGeom prst="line">
            <a:avLst/>
          </a:prstGeom>
          <a:ln w="2159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05840" y="4023360"/>
            <a:ext cx="23774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E07A5F"/>
                </a:solidFill>
                <a:latin typeface="Calibri"/>
              </a:rPr>
              <a:t>ClawCompany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productized harness workflow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94560" y="2834640"/>
            <a:ext cx="3886200" cy="1623060"/>
          </a:xfrm>
          <a:prstGeom prst="line">
            <a:avLst/>
          </a:prstGeom>
          <a:ln w="2159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32520" y="1508760"/>
            <a:ext cx="21945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4C627A"/>
                </a:solidFill>
                <a:latin typeface="Calibri"/>
              </a:rPr>
              <a:t>OpenHands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agent SDK + orchestration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080760" y="1943100"/>
            <a:ext cx="3749040" cy="891540"/>
          </a:xfrm>
          <a:prstGeom prst="line">
            <a:avLst/>
          </a:prstGeom>
          <a:ln w="21590">
            <a:solidFill>
              <a:srgbClr val="4C6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4023360"/>
            <a:ext cx="2331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7C3AED"/>
                </a:solidFill>
                <a:latin typeface="Calibri"/>
              </a:rPr>
              <a:t>Cross-model review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Claude + Codex disagreements</a:t>
            </a:r>
            <a:br/>
            <a:r>
              <a:rPr sz="1200" b="0" i="0">
                <a:solidFill>
                  <a:srgbClr val="1B2A4A"/>
                </a:solidFill>
                <a:latin typeface="Calibri"/>
              </a:rPr>
              <a:t>flaged, reconciled, escalated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080760" y="2834640"/>
            <a:ext cx="3726180" cy="1623060"/>
          </a:xfrm>
          <a:prstGeom prst="line">
            <a:avLst/>
          </a:prstGeom>
          <a:ln w="2159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40" y="5257800"/>
            <a:ext cx="5166360" cy="68580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What this means: the pattern is production-ready. GStack already uses the “outside voice” workflow daily in YC companies.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What the Evaluator Catches (That Solo Would Ship)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206240" cy="3931920"/>
          </a:xfrm>
          <a:prstGeom prst="roundRect">
            <a:avLst/>
          </a:prstGeom>
          <a:solidFill>
            <a:srgbClr val="FAE9E4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E07A5F"/>
                </a:solidFill>
                <a:latin typeface="Calibri"/>
              </a:rPr>
              <a:t>Iteration 1 — rejected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1,206-line index.ts monolith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CDN React + Babel string template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0 tests · 0 real components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0" i="1">
                <a:solidFill>
                  <a:srgbClr val="1B2A4A"/>
                </a:solidFill>
                <a:latin typeface="Calibri"/>
              </a:rPr>
              <a:t>A solo agent would have shipped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4206240" cy="393192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229E92"/>
                </a:solidFill>
                <a:latin typeface="Calibri"/>
              </a:rPr>
              <a:t>Iteration 2 — passed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32-file rebuild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React + Vite + Tailwind + React Router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6 components · 4 pages · 7 tests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0" i="1">
                <a:solidFill>
                  <a:srgbClr val="1B2A4A"/>
                </a:solidFill>
                <a:latin typeface="Calibri"/>
              </a:rPr>
              <a:t>Spec survived; architecture got rebuilt.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331720"/>
            <a:ext cx="1051560" cy="196596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+4,335</a:t>
            </a:r>
            <a:br/>
            <a:r>
              <a:rPr sz="1800" b="1" i="0">
                <a:solidFill>
                  <a:srgbClr val="1B2A4A"/>
                </a:solidFill>
                <a:latin typeface="Calibri"/>
              </a:rPr>
              <a:t>−2,973</a:t>
            </a:r>
            <a:br/>
            <a:r>
              <a:rPr sz="1800" b="1" i="0">
                <a:solidFill>
                  <a:srgbClr val="1B2A4A"/>
                </a:solidFill>
                <a:latin typeface="Calibri"/>
              </a:rPr>
              <a:t>36 file</a:t>
            </a:r>
            <a:br/>
            <a:r>
              <a:rPr sz="1800" b="1" i="0">
                <a:solidFill>
                  <a:srgbClr val="1B2A4A"/>
                </a:solidFill>
                <a:latin typeface="Calibri"/>
              </a:rPr>
              <a:t>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577840"/>
            <a:ext cx="9966960" cy="45720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evaluator turned a technically-working monolith into a production-shape rebuild — exactly the kind of upgrade solo self-evaluation misses.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It’s Not Always Worth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4937760" cy="361188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229E92"/>
                </a:solidFill>
                <a:latin typeface="Calibri"/>
              </a:rPr>
              <a:t>Use Trio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Features touching 3+ files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Unfamiliar bugs with unclear root cause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Architecture refactors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Full-stack features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Anything where “does it actually work?” is uncertain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4937760" cy="3611880"/>
          </a:xfrm>
          <a:prstGeom prst="roundRect">
            <a:avLst/>
          </a:prstGeom>
          <a:solidFill>
            <a:srgbClr val="FAE9E4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E07A5F"/>
                </a:solidFill>
                <a:latin typeface="Calibri"/>
              </a:rPr>
              <a:t>Skip 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Single-line fixes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Formatting or linting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Dependency bumps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Tasks where you already know the fix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1B2A4A"/>
                </a:solidFill>
                <a:latin typeface="Calibri"/>
              </a:rPr>
              <a:t>• Simple, well-understood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486400"/>
            <a:ext cx="9418320" cy="64008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Rule of thumb: if a solo agent gets it right on the first try, trio is just overhead. The sweet spot is medium-complexity work at the edge of model capability.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What We Found That the Article Didn’t Cover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2880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1" i="0">
                <a:solidFill>
                  <a:srgbClr val="F2CC8F"/>
                </a:solidFill>
                <a:latin typeface="Calibri"/>
              </a:rPr>
              <a:t>1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Planner value = structure, not scope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The spec gave the generator a roadmap. On medium tasks that structure enabled correct first attempts; on small tasks it was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691640"/>
            <a:ext cx="2880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1" i="0">
                <a:solidFill>
                  <a:srgbClr val="F2CC8F"/>
                </a:solidFill>
                <a:latin typeface="Calibri"/>
              </a:rPr>
              <a:t>2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Evaluator leniency persists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Even with hard rules, we still saw func=8 with 50% tests failing. Guardrails help, but skepticism remains an active calibration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91640"/>
            <a:ext cx="2880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800" b="1" i="0">
                <a:solidFill>
                  <a:srgbClr val="F2CC8F"/>
                </a:solidFill>
                <a:latin typeface="Calibri"/>
              </a:rPr>
              <a:t>3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Telemetry keeps the claims honest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Every run emits structured JSON. No “it feels better” hand-waving — if you can’t measure it, you can’t trust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One Command, Three Agents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10332720" cy="100584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onsolas"/>
              </a:rPr>
              <a:t>copilot -p '/harnessa Fix the authentication bug' --allow-all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2743200" cy="1691640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Planner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Reads the code</a:t>
            </a:r>
            <a:br/>
            <a:r>
              <a:rPr sz="1500" b="0" i="0">
                <a:solidFill>
                  <a:srgbClr val="FFFFFF"/>
                </a:solidFill>
                <a:latin typeface="Calibri"/>
              </a:rPr>
              <a:t>Writes harnessa-spec.md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788920"/>
            <a:ext cx="2743200" cy="169164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1B2A4A"/>
                </a:solidFill>
                <a:latin typeface="Calibri"/>
              </a:rPr>
              <a:t>Generator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Reads only the spec</a:t>
            </a:r>
            <a:br/>
            <a:r>
              <a:rPr sz="1500" b="0" i="0">
                <a:solidFill>
                  <a:srgbClr val="1B2A4A"/>
                </a:solidFill>
                <a:latin typeface="Calibri"/>
              </a:rPr>
              <a:t>Writes harnessa-gen-report.md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788920"/>
            <a:ext cx="2743200" cy="1691640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Evaluator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Reads report + diff + hidden tests</a:t>
            </a:r>
            <a:br/>
            <a:r>
              <a:rPr sz="1500" b="0" i="0">
                <a:solidFill>
                  <a:srgbClr val="FFFFFF"/>
                </a:solidFill>
                <a:latin typeface="Calibri"/>
              </a:rPr>
              <a:t>Writes harnessa-eval.md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3621024"/>
            <a:ext cx="384048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93992" y="3621024"/>
            <a:ext cx="448056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3767328" y="3474720"/>
            <a:ext cx="256032" cy="256032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903720" y="3474720"/>
            <a:ext cx="256032" cy="256032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5074920"/>
            <a:ext cx="5486400" cy="502920"/>
          </a:xfrm>
          <a:prstGeom prst="roundRect">
            <a:avLst/>
          </a:prstGeom>
          <a:solidFill>
            <a:srgbClr val="5B6678"/>
          </a:solidFill>
          <a:ln w="19050"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Context resets between phases. Each agent gets a clean slate.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5074920"/>
            <a:ext cx="4297680" cy="50292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Fallback: use a pre-recorded terminal walkthrough. Never depend on a live API call in a 15-minute slot.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9788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2EC4B6"/>
                </a:solidFill>
                <a:latin typeface="Calibri"/>
              </a:rPr>
              <a:t>Open source · MIT · benchmarks + telemetry included · replay mode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When Should You Use This?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9718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Decision rule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If a solo agent gets it right first try → don’t add overhead.</a:t>
            </a:r>
            <a:br/>
            <a:r>
              <a:rPr sz="1500" b="0" i="0">
                <a:solidFill>
                  <a:srgbClr val="1B2A4A"/>
                </a:solidFill>
                <a:latin typeface="Calibri"/>
              </a:rPr>
              <a:t>If the task sits at the edge of capability → trio is insurance.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3474720" cy="1691640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Model tiering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Opus for plan + evaluation</a:t>
            </a:r>
            <a:br/>
            <a:r>
              <a:rPr sz="1600" b="1" i="0">
                <a:solidFill>
                  <a:srgbClr val="1B2A4A"/>
                </a:solidFill>
                <a:latin typeface="Calibri"/>
              </a:rPr>
              <a:t>Sonnet for building volume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1">
                <a:solidFill>
                  <a:srgbClr val="1B2A4A"/>
                </a:solidFill>
                <a:latin typeface="Calibri"/>
              </a:rPr>
              <a:t>Industry practice — not tested in our experiments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234440"/>
            <a:ext cx="3246120" cy="1691640"/>
          </a:xfrm>
          <a:prstGeom prst="roundRect">
            <a:avLst/>
          </a:prstGeom>
          <a:solidFill>
            <a:srgbClr val="EAECF0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Round-robin idea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Claude plans</a:t>
            </a:r>
            <a:br/>
            <a:r>
              <a:rPr sz="1600" b="1" i="0">
                <a:solidFill>
                  <a:srgbClr val="1B2A4A"/>
                </a:solidFill>
                <a:latin typeface="Calibri"/>
              </a:rPr>
              <a:t>GPT builds</a:t>
            </a:r>
            <a:br/>
            <a:r>
              <a:rPr sz="1600" b="1" i="0">
                <a:solidFill>
                  <a:srgbClr val="1B2A4A"/>
                </a:solidFill>
                <a:latin typeface="Calibri"/>
              </a:rPr>
              <a:t>Gemini evaluates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1">
                <a:solidFill>
                  <a:srgbClr val="1B2A4A"/>
                </a:solidFill>
                <a:latin typeface="Calibri"/>
              </a:rPr>
              <a:t>Conjecture — immediate next experiment, not validated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429000"/>
            <a:ext cx="3840480" cy="182880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229E92"/>
                </a:solidFill>
                <a:latin typeface="Calibri"/>
              </a:rPr>
              <a:t>Solo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Known fix</a:t>
            </a:r>
            <a:br/>
            <a:r>
              <a:rPr sz="1600" b="0" i="0">
                <a:solidFill>
                  <a:srgbClr val="1B2A4A"/>
                </a:solidFill>
                <a:latin typeface="Calibri"/>
              </a:rPr>
              <a:t>small change</a:t>
            </a:r>
            <a:br/>
            <a:r>
              <a:rPr sz="1600" b="0" i="0">
                <a:solidFill>
                  <a:srgbClr val="1B2A4A"/>
                </a:solidFill>
                <a:latin typeface="Calibri"/>
              </a:rPr>
              <a:t>low downside if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29000"/>
            <a:ext cx="3840480" cy="182880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E07A5F"/>
                </a:solidFill>
                <a:latin typeface="Calibri"/>
              </a:rPr>
              <a:t>Trio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B2A4A"/>
                </a:solidFill>
                <a:latin typeface="Calibri"/>
              </a:rPr>
              <a:t>Ambiguous bug</a:t>
            </a:r>
            <a:br/>
            <a:r>
              <a:rPr sz="1600" b="0" i="0">
                <a:solidFill>
                  <a:srgbClr val="1B2A4A"/>
                </a:solidFill>
                <a:latin typeface="Calibri"/>
              </a:rPr>
              <a:t>multi-file feature</a:t>
            </a:r>
            <a:br/>
            <a:r>
              <a:rPr sz="1600" b="0" i="0">
                <a:solidFill>
                  <a:srgbClr val="1B2A4A"/>
                </a:solidFill>
                <a:latin typeface="Calibri"/>
              </a:rPr>
              <a:t>high cost if broken</a:t>
            </a:r>
          </a:p>
        </p:txBody>
      </p:sp>
      <p:sp>
        <p:nvSpPr>
          <p:cNvPr id="10" name="Chevron 9"/>
          <p:cNvSpPr/>
          <p:nvPr/>
        </p:nvSpPr>
        <p:spPr>
          <a:xfrm>
            <a:off x="5257800" y="3977639"/>
            <a:ext cx="1554480" cy="685800"/>
          </a:xfrm>
          <a:prstGeom prst="chevron">
            <a:avLst/>
          </a:prstGeom>
          <a:solidFill>
            <a:srgbClr val="F2CC8F"/>
          </a:solidFill>
          <a:ln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418795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complex?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10515600" cy="41148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Bigger question: as models improve, which parts of the harness are still load-bearing? The architecture that adapts wins.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Quality Ceiling is Real. Architecture Breaks Through It.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9966960" cy="141732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When your solo agent ships broken code, the problem is not just the model — it’s the architecture around the model.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2EC4B6"/>
                </a:solidFill>
                <a:latin typeface="Calibri"/>
              </a:rPr>
              <a:t>Separating building from evaluation is a proven, measurable lever.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429000"/>
            <a:ext cx="9692640" cy="150876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0" i="1">
                <a:solidFill>
                  <a:srgbClr val="F2CC8F"/>
                </a:solidFill>
                <a:latin typeface="Calibri"/>
              </a:rPr>
              <a:t>“The space of interesting harness combinations doesn’t shrink as models improve. It moves.”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Anthropic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github.com/ridermw/harnessa · MIT License · Benchmarks + telemetry included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Appendix — Full Experiment Matrix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5156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Run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188720"/>
            <a:ext cx="365760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188720"/>
            <a:ext cx="77724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9436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188720"/>
            <a:ext cx="91440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188720"/>
            <a:ext cx="77724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Avg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188720"/>
            <a:ext cx="1188720" cy="347472"/>
          </a:xfrm>
          <a:prstGeom prst="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e7c84a5d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57276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small-bugfix-python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7276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57276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57276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57276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57276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905s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938528"/>
            <a:ext cx="10515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bd67944a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938528"/>
            <a:ext cx="36576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small-bugfix-python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93852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38528"/>
            <a:ext cx="5943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3*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938528"/>
            <a:ext cx="9144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E07A5F"/>
                </a:solidFill>
                <a:latin typeface="Calibri"/>
              </a:rPr>
              <a:t>FAIL*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93852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N/A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938528"/>
            <a:ext cx="118872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1009s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0428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b153e749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30428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small-bugfix-python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30428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30428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30428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30428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9.5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30428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427s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670048"/>
            <a:ext cx="10515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efab0ba4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670048"/>
            <a:ext cx="36576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small-feature-typescript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267004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670048"/>
            <a:ext cx="5943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670048"/>
            <a:ext cx="9144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67004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2670048"/>
            <a:ext cx="118872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187s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03580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867e4e79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303580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small-feature-typescript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03580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03580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03580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03580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03580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315s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401568"/>
            <a:ext cx="10515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7799434e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3401568"/>
            <a:ext cx="36576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small-bugfix-go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340156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solo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401568"/>
            <a:ext cx="5943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3401568"/>
            <a:ext cx="9144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E07A5F"/>
                </a:solidFill>
                <a:latin typeface="Calibri"/>
              </a:rPr>
              <a:t>FAIL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340156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6.75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401568"/>
            <a:ext cx="118872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150s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76732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f584e402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376732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small-bugfix-go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376732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376732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6732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E07A5F"/>
                </a:solidFill>
                <a:latin typeface="Calibri"/>
              </a:rPr>
              <a:t>FAIL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376732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7.25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376732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830s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4133088"/>
            <a:ext cx="10515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3061e233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4133088"/>
            <a:ext cx="36576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medium-feature-python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413308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solo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133088"/>
            <a:ext cx="5943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4133088"/>
            <a:ext cx="9144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413308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4133088"/>
            <a:ext cx="118872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297s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449884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6649b0bc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449884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medium-feature-python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449884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0" y="449884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449884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58200" y="449884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449884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1256s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4864608"/>
            <a:ext cx="10515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410f76ce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864608"/>
            <a:ext cx="36576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medium-feature-fullstack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486460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solo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4864608"/>
            <a:ext cx="59436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0" y="4864608"/>
            <a:ext cx="91440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E07A5F"/>
                </a:solidFill>
                <a:latin typeface="Calibri"/>
              </a:rPr>
              <a:t>FAIL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58200" y="4864608"/>
            <a:ext cx="77724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6.25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09760" y="4864608"/>
            <a:ext cx="1188720" cy="347472"/>
          </a:xfrm>
          <a:prstGeom prst="rect">
            <a:avLst/>
          </a:prstGeom>
          <a:solidFill>
            <a:srgbClr val="F0F0F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383s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" y="5230368"/>
            <a:ext cx="10515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7dbac7be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0" y="5230368"/>
            <a:ext cx="3657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medium-feature-fullstack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77840" y="523036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trio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5230368"/>
            <a:ext cx="5943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0" y="5230368"/>
            <a:ext cx="9144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229E92"/>
                </a:solidFill>
                <a:latin typeface="Calibri"/>
              </a:rPr>
              <a:t>PASS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58200" y="5230368"/>
            <a:ext cx="7772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8.0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9760" y="5230368"/>
            <a:ext cx="11887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619s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77240" y="5989320"/>
            <a:ext cx="10789920" cy="329184"/>
          </a:xfrm>
          <a:prstGeom prst="roundRect">
            <a:avLst/>
          </a:prstGeom>
          <a:solidFill>
            <a:srgbClr val="FBF4E5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* bd67944a fixed the bug but produced unparseable evaluator JSON; the prompt was hardened afterwards.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Appendix — Evaluator Reliability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2286000" cy="914400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673352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2EC4B6"/>
                </a:solidFill>
                <a:latin typeface="Calibri"/>
              </a:rPr>
              <a:t>Rubber-stamp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92807"/>
            <a:ext cx="2139696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0 explicit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286000" cy="914400"/>
          </a:xfrm>
          <a:prstGeom prst="roundRect">
            <a:avLst/>
          </a:prstGeom>
          <a:solidFill>
            <a:srgbClr val="FAE9E4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673352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E07A5F"/>
                </a:solidFill>
                <a:latin typeface="Calibri"/>
              </a:rPr>
              <a:t>Refusal-to-be-negative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892807"/>
            <a:ext cx="2139696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1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002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1673352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8B8B8B"/>
                </a:solidFill>
                <a:latin typeface="Calibri"/>
              </a:rPr>
              <a:t>False positive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1892807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Deferred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60020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7" y="1673352"/>
            <a:ext cx="1883663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8B8B8B"/>
                </a:solidFill>
                <a:latin typeface="Calibri"/>
              </a:rPr>
              <a:t>Cross-model agreement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892807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B2A4A"/>
                </a:solidFill>
                <a:latin typeface="Calibri"/>
              </a:rPr>
              <a:t>Not measured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017520"/>
            <a:ext cx="49834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E07A5F"/>
                </a:solidFill>
                <a:latin typeface="Calibri"/>
              </a:rPr>
              <a:t>Closest miss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TS benchmark: evaluator gave functionality = 8 even though only 11/22 tests passed. That is exactly the people-pleasing bias the article warned about.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46634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229E92"/>
                </a:solidFill>
                <a:latin typeface="Calibri"/>
              </a:rPr>
              <a:t>Best evidence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Calibri"/>
              </a:rPr>
              <a:t>Python bugfix: functionality went 1 → 10 after evaluator feedback. The critic was harsh first, then precise enough to drive the fix.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9875520" cy="475488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Calibration solved format problems fast. Severity scoring remains the harder problem.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Appendix — Difficulty Classification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5394960"/>
            <a:ext cx="6400799" cy="0"/>
          </a:xfrm>
          <a:prstGeom prst="line">
            <a:avLst/>
          </a:prstGeom>
          <a:ln w="2032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554480"/>
            <a:ext cx="0" cy="3840480"/>
          </a:xfrm>
          <a:prstGeom prst="line">
            <a:avLst/>
          </a:prstGeom>
          <a:ln w="2032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97680" y="1554480"/>
            <a:ext cx="0" cy="3840480"/>
          </a:xfrm>
          <a:prstGeom prst="line">
            <a:avLst/>
          </a:prstGeom>
          <a:ln w="12700">
            <a:solidFill>
              <a:srgbClr val="8B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3474720"/>
            <a:ext cx="6400799" cy="0"/>
          </a:xfrm>
          <a:prstGeom prst="line">
            <a:avLst/>
          </a:prstGeom>
          <a:ln w="12700">
            <a:solidFill>
              <a:srgbClr val="8B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51760" y="546811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Higher solo capability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/>
              </a:rPr>
              <a:t>Trio uplift</a:t>
            </a:r>
          </a:p>
        </p:txBody>
      </p:sp>
      <p:sp>
        <p:nvSpPr>
          <p:cNvPr id="11" name="Oval 10"/>
          <p:cNvSpPr/>
          <p:nvPr/>
        </p:nvSpPr>
        <p:spPr>
          <a:xfrm>
            <a:off x="5174060" y="3075432"/>
            <a:ext cx="201168" cy="201168"/>
          </a:xfrm>
          <a:prstGeom prst="ellipse">
            <a:avLst/>
          </a:prstGeom>
          <a:solidFill>
            <a:srgbClr val="8B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6084" y="310286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Python bugfix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1764" y="3285744"/>
            <a:ext cx="685800" cy="164592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marginal</a:t>
            </a:r>
          </a:p>
        </p:txBody>
      </p:sp>
      <p:sp>
        <p:nvSpPr>
          <p:cNvPr id="14" name="Oval 13"/>
          <p:cNvSpPr/>
          <p:nvPr/>
        </p:nvSpPr>
        <p:spPr>
          <a:xfrm>
            <a:off x="5106683" y="3416808"/>
            <a:ext cx="201168" cy="201168"/>
          </a:xfrm>
          <a:prstGeom prst="ellipse">
            <a:avLst/>
          </a:prstGeom>
          <a:solidFill>
            <a:srgbClr val="8B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8707" y="34442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TS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4387" y="3627120"/>
            <a:ext cx="685800" cy="164592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marginal</a:t>
            </a:r>
          </a:p>
        </p:txBody>
      </p:sp>
      <p:sp>
        <p:nvSpPr>
          <p:cNvPr id="17" name="Oval 16"/>
          <p:cNvSpPr/>
          <p:nvPr/>
        </p:nvSpPr>
        <p:spPr>
          <a:xfrm>
            <a:off x="3893900" y="4099560"/>
            <a:ext cx="201168" cy="201168"/>
          </a:xfrm>
          <a:prstGeom prst="ellipse">
            <a:avLst/>
          </a:prstGeom>
          <a:solidFill>
            <a:srgbClr val="E07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5924" y="41269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Go race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1604" y="4309872"/>
            <a:ext cx="685800" cy="164592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too_hard</a:t>
            </a:r>
          </a:p>
        </p:txBody>
      </p:sp>
      <p:sp>
        <p:nvSpPr>
          <p:cNvPr id="20" name="Oval 19"/>
          <p:cNvSpPr/>
          <p:nvPr/>
        </p:nvSpPr>
        <p:spPr>
          <a:xfrm>
            <a:off x="5106683" y="3587496"/>
            <a:ext cx="201168" cy="201168"/>
          </a:xfrm>
          <a:prstGeom prst="ellipse">
            <a:avLst/>
          </a:prstGeom>
          <a:solidFill>
            <a:srgbClr val="8B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8707" y="36149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Python tags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4387" y="3797808"/>
            <a:ext cx="685800" cy="164592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marginal</a:t>
            </a:r>
          </a:p>
        </p:txBody>
      </p:sp>
      <p:sp>
        <p:nvSpPr>
          <p:cNvPr id="23" name="Oval 22"/>
          <p:cNvSpPr/>
          <p:nvPr/>
        </p:nvSpPr>
        <p:spPr>
          <a:xfrm>
            <a:off x="4298161" y="1709928"/>
            <a:ext cx="201168" cy="201168"/>
          </a:xfrm>
          <a:prstGeom prst="ellipse">
            <a:avLst/>
          </a:prstGeom>
          <a:solidFill>
            <a:srgbClr val="2EC4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0185" y="17373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1B2A4A"/>
                </a:solidFill>
                <a:latin typeface="Calibri"/>
              </a:rPr>
              <a:t>Fullstack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5865" y="1920240"/>
            <a:ext cx="685800" cy="164592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in_zone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645920"/>
            <a:ext cx="33375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Legend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too_easy: both ≥ 9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too_hard: both fail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in_zone: trio wins by ≥ 1.5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marginal: small uplift or tie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CC8F"/>
                </a:solidFill>
                <a:latin typeface="Calibri"/>
              </a:rPr>
              <a:t>Observation: only the fullstack benchmark landed squarely in the harness sweet spot.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1B2A4A"/>
                </a:solidFill>
                <a:latin typeface="Calibri"/>
              </a:rPr>
              <a:t>Appendix — Grading Criteria Details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29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5B6678"/>
                </a:solidFill>
                <a:latin typeface="Calibri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3035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229E92"/>
                </a:solidFill>
                <a:latin typeface="Calibri"/>
              </a:rPr>
              <a:t>backend.yaml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28800"/>
            <a:ext cx="4937760" cy="713232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Product Depth · HIGH · threshold 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Real business logic, edge cases, thoughtful data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51760"/>
            <a:ext cx="4937760" cy="713232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Functionality · HIGH · threshold 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Core workflow works end-to-end with proper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474720"/>
            <a:ext cx="4937760" cy="713232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Code Quality · MEDIUM · threshold 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Clean modules, naming, structure, maintainability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97680"/>
            <a:ext cx="4937760" cy="713232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Test Coverage · MEDIUM · threshold 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Meaningful tests that catch real bugs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1206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7C3AED"/>
                </a:solidFill>
                <a:latin typeface="Calibri"/>
              </a:rPr>
              <a:t>fullstack.yaml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4754880" cy="713232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Product Depth · HIGH · threshold 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Rich interactive behavior and domain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51760"/>
            <a:ext cx="4754880" cy="713232"/>
          </a:xfrm>
          <a:prstGeom prst="roundRect">
            <a:avLst/>
          </a:prstGeom>
          <a:solidFill>
            <a:srgbClr val="E4F7F4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Functionality · HIGH · threshold 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UI → API → DB workflow works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474720"/>
            <a:ext cx="4754880" cy="713232"/>
          </a:xfrm>
          <a:prstGeom prst="roundRect">
            <a:avLst/>
          </a:prstGeom>
          <a:solidFill>
            <a:srgbClr val="E9E2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Visual Design · HIGH · threshold 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Coherent layout, spacing, hierarchy, accessibility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97680"/>
            <a:ext cx="4754880" cy="713232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Code Quality · MEDIUM · threshold 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B2A4A"/>
                </a:solidFill>
                <a:latin typeface="Calibri"/>
              </a:rPr>
              <a:t>Component decomposition, API separation, shared patterns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Appendix — Detailed System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881360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355080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645920" cy="731520"/>
          </a:xfrm>
          <a:prstGeom prst="roundRect">
            <a:avLst/>
          </a:prstGeom>
          <a:solidFill>
            <a:srgbClr val="F2CC8F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Human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43000"/>
            <a:ext cx="2103120" cy="914400"/>
          </a:xfrm>
          <a:prstGeom prst="roundRect">
            <a:avLst/>
          </a:prstGeom>
          <a:solidFill>
            <a:srgbClr val="4C627A"/>
          </a:solidFill>
          <a:ln w="19050">
            <a:solidFill>
              <a:srgbClr val="4C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Planner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spec.md + design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743200"/>
            <a:ext cx="2103120" cy="914400"/>
          </a:xfrm>
          <a:prstGeom prst="roundRect">
            <a:avLst/>
          </a:prstGeom>
          <a:solidFill>
            <a:srgbClr val="2EC4B6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Generator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builds against agreed sprint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743200"/>
            <a:ext cx="2103120" cy="914400"/>
          </a:xfrm>
          <a:prstGeom prst="roundRect">
            <a:avLst/>
          </a:prstGeom>
          <a:solidFill>
            <a:srgbClr val="E07A5F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Evaluator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Playwright QA + scoring + bug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43000"/>
            <a:ext cx="2834640" cy="914400"/>
          </a:xfrm>
          <a:prstGeom prst="roundRect">
            <a:avLst/>
          </a:prstGeom>
          <a:solidFill>
            <a:srgbClr val="5B6678"/>
          </a:solidFill>
          <a:ln w="19050">
            <a:solidFill>
              <a:srgbClr val="5B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Telemetry collector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timing · scores · bugs · trends ·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2834640" cy="91440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Calibri"/>
              </a:rPr>
              <a:t>Replay / reporting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re-score saved artifacts without rerunning the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617720"/>
            <a:ext cx="2880360" cy="100584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F2CC8F"/>
                </a:solidFill>
                <a:latin typeface="Calibri"/>
              </a:rPr>
              <a:t>Isolation manager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Generator cannot see _eval/ hidden acceptance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617720"/>
            <a:ext cx="2880360" cy="100584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2EC4B6"/>
                </a:solidFill>
                <a:latin typeface="Calibri"/>
              </a:rPr>
              <a:t>Communication protocol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Everything is a file handoff — no shared chat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617720"/>
            <a:ext cx="3657600" cy="1005840"/>
          </a:xfrm>
          <a:prstGeom prst="roundRect">
            <a:avLst/>
          </a:prstGeom>
          <a:solidFill>
            <a:srgbClr val="13203A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E07A5F"/>
                </a:solidFill>
                <a:latin typeface="Calibri"/>
              </a:rPr>
              <a:t>Context strategy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Reset between phases when models exhibit context anxiety; compact when they do not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23160" y="1600200"/>
            <a:ext cx="274320" cy="914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94760" y="2057400"/>
            <a:ext cx="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46320" y="3200400"/>
            <a:ext cx="594360" cy="0"/>
          </a:xfrm>
          <a:prstGeom prst="line">
            <a:avLst/>
          </a:prstGeom>
          <a:ln w="27940">
            <a:solidFill>
              <a:srgbClr val="F2C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3200400"/>
            <a:ext cx="5943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1600200"/>
            <a:ext cx="333755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Adversarial Architecture</dc:title>
  <dc:subject>Engineering leadership talk deck</dc:subject>
  <dc:creator>GitHub Copilot CLI</dc:creator>
  <cp:keywords>AI agents, adversarial architecture, harnessa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